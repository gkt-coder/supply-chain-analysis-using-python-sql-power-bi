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7A32-A5D4-C4BD-48D4-A9BD87FAB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692B8-EFEE-F278-E93F-DC05418F1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C6F6D-C155-0FC1-D54C-6DE45A05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5E42-F825-1A9F-659D-E0CA466E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10CC3-4B7A-5DF7-D539-923BD4DD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61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9F13-106C-7783-EDA7-B8F5B0B2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F5A4A-4E54-F4C4-CA44-FBD345CB4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B4438-B224-97FE-912C-CCFBFD33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017E2-5BF6-262E-F5E8-2D0A596E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203C-A98D-EAA6-BA59-6C6184FB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3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51E6-54DC-578F-D42C-F2F8C09D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23827-2A26-BF85-E6AD-F736D4190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70C1E-569E-EF38-899D-A1786148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4530D-DFC2-012E-28BA-12E4A257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8A13D-1E4D-8CE9-FCDE-BFEC8A8B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69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BDF0-AAEC-3B86-C105-9094F684B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E159D-0FC5-326A-B581-496665162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43114-309E-F8B1-ED98-B28DDBED4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BA403-75AA-46A3-F1D4-C957C631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C85CD-1BB8-0BF8-1D76-0FC55588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E44D6-CB60-600B-86C0-E5648C5B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94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7C4C-1628-1A1A-977F-4824600B9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FAC17-FE14-8CBB-33DE-5B624B37D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0FCB2-5536-A9BB-B7AB-A93E67CD0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B1707-CC88-C9BE-EF08-D6C80126C8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BDCEF-80C2-68D6-01DE-AD01F539F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673A5-4AEE-A263-0DE7-AD693562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B77-204A-DBBB-9CED-A854F823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97DE4-8199-FC73-61E8-2A6ED865B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73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E951-471E-3EB3-5889-4882AC2AC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48F2C-EC17-ED70-7995-E48FF110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A04F-82CD-F5E5-B3B0-9CF0D3FF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BE224-F979-F109-F7E9-CFD0EEB4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83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ACF837-FAEE-9CB4-0CFD-9551691D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1E1095-CFB9-2F7B-869B-21CCA62F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670B5-680E-D530-F7E0-BD77B92C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53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EE67-62E2-1E3C-AA81-66646EA1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2F456-9636-73C1-33D0-8D42C68C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06EC3-109A-FCFB-AF2A-E1BFDFCA9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08FF7-4A27-0289-2763-6C76AC99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DD234-119B-CDB8-CB52-223B9CD2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2EC3F-6C67-D5F9-EBAD-FE8E6875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38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33AD-9002-3EBC-AB64-30A47F8B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335EE5-ABD7-C555-0A89-9ACCB5E8D7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2634B-A23E-201B-93BC-4F8EE984D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7B46F-F20D-93E2-D7BA-04FAF4DA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12723-E277-03F8-9583-0F670226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4ADAC-88BC-C5E9-3276-1EB2FDBC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69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D41-AB11-4184-08C4-1F741527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5F618-4F46-8762-78EC-81B3D6987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5B062-14EA-AF5E-D84C-E4B308233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B1709-190A-4C07-1ED2-9AD59BC0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87727-5DC7-7988-AAD1-FF183C5D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65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EE7A8-2381-6442-7082-B18A81F54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F89FF8-938C-7A5B-BF85-995F416D6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6C864-2045-57C9-D8E9-13812005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4DAB4-2AB4-3C65-3BDF-08167562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B767-B174-7DBA-CCE2-6470A162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29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AE81B5-DC6C-6F47-B5B9-120180EC9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603F-3B53-9FF6-041E-4C08C34E2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8BB92-DF4E-FB2C-64CF-B371FA13F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82E40-75EE-40A3-ABDC-5C73ED80E96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37B4E-F9DD-6EC0-18A7-4BFCBFBE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F0E05-A119-763F-4D5B-3D1A6FBF8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F25CC-D7A5-45E9-A5FD-FB6F303F47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77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BCED-3DF5-B6EF-B116-90E1FD1AE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270" y="345232"/>
            <a:ext cx="10991460" cy="1492899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Supply Chain Analysis Using Python, SQL &amp; Power BI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94A86-72E2-A913-563F-A58917C74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96751"/>
            <a:ext cx="9144000" cy="3261049"/>
          </a:xfrm>
        </p:spPr>
        <p:txBody>
          <a:bodyPr/>
          <a:lstStyle/>
          <a:p>
            <a:r>
              <a:rPr lang="en-IN" sz="2800" dirty="0"/>
              <a:t>• Prepared By: Ghanshyam Kumar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• Mentor: Anish Sir</a:t>
            </a:r>
          </a:p>
          <a:p>
            <a:pPr algn="l">
              <a:defRPr sz="2200">
                <a:solidFill>
                  <a:srgbClr val="1E1E1E"/>
                </a:solidFill>
              </a:defRPr>
            </a:pPr>
            <a:r>
              <a:rPr lang="en-US" sz="2800" dirty="0"/>
              <a:t>• Duration: May 2026 – July 2026</a:t>
            </a:r>
          </a:p>
          <a:p>
            <a:pPr algn="l">
              <a:defRPr sz="2200">
                <a:solidFill>
                  <a:srgbClr val="1E1E1E"/>
                </a:solidFill>
              </a:defRPr>
            </a:pPr>
            <a:r>
              <a:rPr lang="en-US" sz="2800" dirty="0"/>
              <a:t>•Data Analyst Second 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609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4CD4-9BB4-9CEC-A537-F58C7F2E2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8" y="177282"/>
            <a:ext cx="11232502" cy="74644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b="1" dirty="0"/>
              <a:t>Business Problems &amp; Solutions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1C453-9D9A-FDDF-3CFA-EE9EF5633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6448"/>
            <a:ext cx="10515600" cy="59342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r>
              <a:rPr lang="en-IN" b="1" dirty="0"/>
              <a:t>Problems Identified</a:t>
            </a:r>
            <a:endParaRPr lang="en-US" b="1" dirty="0"/>
          </a:p>
          <a:p>
            <a:r>
              <a:rPr lang="en-US" sz="1600" dirty="0"/>
              <a:t> </a:t>
            </a:r>
            <a:r>
              <a:rPr lang="en-US" sz="1600" b="1" dirty="0"/>
              <a:t>Delivery Delays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Delays in shipping and order processing reduce customer satisfaction. </a:t>
            </a:r>
          </a:p>
          <a:p>
            <a:r>
              <a:rPr lang="en-US" sz="1600" dirty="0"/>
              <a:t> </a:t>
            </a:r>
            <a:r>
              <a:rPr lang="en-US" sz="1600" b="1" dirty="0"/>
              <a:t>Inventory Imbalance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Some warehouses have excess stock while others face stock shortages. </a:t>
            </a:r>
          </a:p>
          <a:p>
            <a:r>
              <a:rPr lang="en-US" sz="1600" b="1" dirty="0"/>
              <a:t>High Operational Costs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High operational, storage, and transportation costs reduce overall profitability. </a:t>
            </a:r>
          </a:p>
          <a:p>
            <a:r>
              <a:rPr lang="en-US" sz="1600" b="1" dirty="0"/>
              <a:t>Demand &amp; Stock Mismatch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Current stock levels do not always match forecasted demand, leading to stockouts or overstocking. </a:t>
            </a:r>
          </a:p>
          <a:p>
            <a:r>
              <a:rPr lang="en-US" sz="1600" dirty="0"/>
              <a:t> </a:t>
            </a:r>
            <a:r>
              <a:rPr lang="en-US" sz="1600" b="1" dirty="0"/>
              <a:t>Warehouse Performance Monitoring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Businesses lack a centralized system to monitor warehouse performance and operational KPIs. </a:t>
            </a:r>
          </a:p>
          <a:p>
            <a:r>
              <a:rPr lang="en-US" sz="1600" b="1" dirty="0"/>
              <a:t>Slow Decision-Making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Business data is scattered across different sources, making analysis and decision-making difficult.</a:t>
            </a:r>
          </a:p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r>
              <a:rPr lang="en-US" sz="2100" b="1" dirty="0"/>
              <a:t>• Solution: </a:t>
            </a:r>
          </a:p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r>
              <a:rPr lang="en-US" sz="1600" b="1" dirty="0"/>
              <a:t>Perform Feature Engineering to calculate:</a:t>
            </a:r>
          </a:p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r>
              <a:rPr lang="en-US" sz="1600" dirty="0"/>
              <a:t>• Total Cost • Profit • Inventory Gap • Employee Gap • Sales per Employee</a:t>
            </a:r>
          </a:p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r>
              <a:rPr lang="en-US" sz="1600" b="1" dirty="0"/>
              <a:t>Use SQL to analyze:</a:t>
            </a:r>
          </a:p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r>
              <a:rPr lang="en-US" sz="1600" dirty="0"/>
              <a:t>• Delayed warehouses • Stockout risk • Cost vs Profit •  Product-wise Sales • Demand vs Stock Comparison </a:t>
            </a:r>
          </a:p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r>
              <a:rPr lang="en-US" sz="1600" b="1" dirty="0"/>
              <a:t>Build an interactive Power BI dashboard to monitor:</a:t>
            </a:r>
          </a:p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r>
              <a:rPr lang="en-US" sz="1600" dirty="0"/>
              <a:t>• Sales • Profit • Delivery Performance • Inventory • Warehouse Efficiency • Customer Rating </a:t>
            </a:r>
          </a:p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endParaRPr lang="en-US" dirty="0"/>
          </a:p>
          <a:p>
            <a:pPr marL="0" indent="0">
              <a:buNone/>
              <a:defRPr sz="2200">
                <a:solidFill>
                  <a:srgbClr val="1E1E1E"/>
                </a:solidFill>
              </a:defRPr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44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2A694-B4BE-9BF2-2736-8784106D3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573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700" b="1" dirty="0"/>
              <a:t>Project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9DD6-AE24-9CD0-3388-ECD4A16B0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665"/>
            <a:ext cx="10515600" cy="5029298"/>
          </a:xfrm>
        </p:spPr>
        <p:txBody>
          <a:bodyPr>
            <a:normAutofit/>
          </a:bodyPr>
          <a:lstStyle/>
          <a:p>
            <a:r>
              <a:rPr lang="en-US" sz="1500" dirty="0"/>
              <a:t>The </a:t>
            </a:r>
            <a:r>
              <a:rPr lang="en-US" sz="1500" b="1" dirty="0"/>
              <a:t>Supply Chain Operations Dashboard</a:t>
            </a:r>
            <a:r>
              <a:rPr lang="en-US" sz="1500" dirty="0"/>
              <a:t> is a data analytics project developed to improve warehouse operations and support business decision-making. The project analyzes supply chain data to monitor </a:t>
            </a:r>
            <a:r>
              <a:rPr lang="en-US" sz="1500" b="1" dirty="0"/>
              <a:t>sales, revenue, profit, inventory, employee performance, and delivery efficiency</a:t>
            </a:r>
            <a:r>
              <a:rPr lang="en-US" sz="1500" dirty="0"/>
              <a:t>.</a:t>
            </a:r>
          </a:p>
          <a:p>
            <a:r>
              <a:rPr lang="en-US" sz="1500" dirty="0"/>
              <a:t>Using </a:t>
            </a:r>
            <a:r>
              <a:rPr lang="en-US" sz="1500" b="1" dirty="0"/>
              <a:t>Python</a:t>
            </a:r>
            <a:r>
              <a:rPr lang="en-US" sz="1500" dirty="0"/>
              <a:t>, the dataset was cleaned, preprocessed, and enhanced through feature engineering. </a:t>
            </a:r>
            <a:r>
              <a:rPr lang="en-US" sz="1500" b="1" dirty="0"/>
              <a:t>SQL</a:t>
            </a:r>
            <a:r>
              <a:rPr lang="en-US" sz="1500" dirty="0"/>
              <a:t> was used to perform business analysis and extract operational insights, while </a:t>
            </a:r>
            <a:r>
              <a:rPr lang="en-US" sz="1500" b="1" dirty="0"/>
              <a:t>Power BI</a:t>
            </a:r>
            <a:r>
              <a:rPr lang="en-US" sz="1500" dirty="0"/>
              <a:t> was used to build an interactive dashboard for real-time visualization and reporting.</a:t>
            </a:r>
          </a:p>
          <a:p>
            <a:r>
              <a:rPr lang="en-US" sz="1500" dirty="0"/>
              <a:t>The dashboard helps identify inventory shortages, employee gaps, warehouse performance, delivery delays, and financial performance, enabling organizations to make data-driven decisions and optimize overall supply chain operations.</a:t>
            </a:r>
          </a:p>
          <a:p>
            <a:r>
              <a:rPr lang="en-US" b="1" dirty="0"/>
              <a:t>Key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Analyze supply chain and warehouse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Optimize inventory management and stock utilization.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Monitor sales, revenue, cost, and profit.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Identify employee shortages and workforce gaps.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Improve delivery performance and operational efficiency.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Build an interactive Power BI dashboard for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82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3B08D-429C-CD62-BA71-B8714884B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578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Dataset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148F28-BE60-64A8-7308-61D18972C3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214551"/>
              </p:ext>
            </p:extLst>
          </p:nvPr>
        </p:nvGraphicFramePr>
        <p:xfrm>
          <a:off x="838200" y="942392"/>
          <a:ext cx="11104984" cy="6663301"/>
        </p:xfrm>
        <a:graphic>
          <a:graphicData uri="http://schemas.openxmlformats.org/drawingml/2006/table">
            <a:tbl>
              <a:tblPr/>
              <a:tblGrid>
                <a:gridCol w="6047792">
                  <a:extLst>
                    <a:ext uri="{9D8B030D-6E8A-4147-A177-3AD203B41FA5}">
                      <a16:colId xmlns:a16="http://schemas.microsoft.com/office/drawing/2014/main" val="2525780122"/>
                    </a:ext>
                  </a:extLst>
                </a:gridCol>
                <a:gridCol w="5057192">
                  <a:extLst>
                    <a:ext uri="{9D8B030D-6E8A-4147-A177-3AD203B41FA5}">
                      <a16:colId xmlns:a16="http://schemas.microsoft.com/office/drawing/2014/main" val="4199855442"/>
                    </a:ext>
                  </a:extLst>
                </a:gridCol>
              </a:tblGrid>
              <a:tr h="5186216">
                <a:tc>
                  <a:txBody>
                    <a:bodyPr/>
                    <a:lstStyle/>
                    <a:p>
                      <a:r>
                        <a:rPr lang="en-IN" sz="1600" b="1" dirty="0"/>
                        <a:t>Dataset Information</a:t>
                      </a:r>
                    </a:p>
                    <a:p>
                      <a:r>
                        <a:rPr lang="en-IN" sz="1400" b="1" dirty="0"/>
                        <a:t>Dataset Name:</a:t>
                      </a:r>
                      <a:r>
                        <a:rPr lang="en-IN" sz="1400" dirty="0"/>
                        <a:t> Supply Chain Operations Dataset</a:t>
                      </a:r>
                    </a:p>
                    <a:p>
                      <a:r>
                        <a:rPr lang="en-IN" sz="1400" b="1" dirty="0"/>
                        <a:t>Domain:</a:t>
                      </a:r>
                      <a:r>
                        <a:rPr lang="en-IN" sz="1400" dirty="0"/>
                        <a:t> Logistics &amp; Supply Chain Management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Analysis Tools: </a:t>
                      </a:r>
                      <a:r>
                        <a:rPr lang="en-US" sz="1400" b="0" dirty="0"/>
                        <a:t>Python, SQL, Power BI</a:t>
                      </a:r>
                      <a:endParaRPr lang="en-IN" sz="1400" dirty="0"/>
                    </a:p>
                    <a:p>
                      <a:r>
                        <a:rPr lang="en-IN" sz="1400" b="1" dirty="0"/>
                        <a:t>File Format:</a:t>
                      </a:r>
                      <a:r>
                        <a:rPr lang="en-IN" sz="1400" dirty="0"/>
                        <a:t> CSV</a:t>
                      </a:r>
                    </a:p>
                    <a:p>
                      <a:r>
                        <a:rPr lang="en-IN" sz="1400" b="1" dirty="0"/>
                        <a:t>Total Records:</a:t>
                      </a:r>
                      <a:r>
                        <a:rPr lang="en-IN" sz="1400" dirty="0"/>
                        <a:t> 500</a:t>
                      </a:r>
                    </a:p>
                    <a:p>
                      <a:r>
                        <a:rPr lang="en-IN" sz="1400" b="1" dirty="0"/>
                        <a:t>Total Features:</a:t>
                      </a:r>
                      <a:r>
                        <a:rPr lang="en-IN" sz="1400" dirty="0"/>
                        <a:t> 30 Columns</a:t>
                      </a:r>
                    </a:p>
                    <a:p>
                      <a:endParaRPr lang="en-US" sz="1400" b="1" dirty="0"/>
                    </a:p>
                    <a:p>
                      <a:r>
                        <a:rPr lang="en-US" sz="1600" b="1" dirty="0"/>
                        <a:t>Key Data Categories</a:t>
                      </a:r>
                    </a:p>
                    <a:p>
                      <a:r>
                        <a:rPr lang="en-US" sz="1400" b="1" dirty="0"/>
                        <a:t>Warehouse Information</a:t>
                      </a:r>
                    </a:p>
                    <a:p>
                      <a:r>
                        <a:rPr lang="en-US" sz="1400" dirty="0"/>
                        <a:t>• Warehouse ID • Location • Warehouse Capacity</a:t>
                      </a:r>
                    </a:p>
                    <a:p>
                      <a:r>
                        <a:rPr lang="en-US" sz="1400" b="1" dirty="0"/>
                        <a:t>Sales &amp; Revenue</a:t>
                      </a:r>
                    </a:p>
                    <a:p>
                      <a:r>
                        <a:rPr lang="en-US" sz="1400" dirty="0"/>
                        <a:t>• Monthly Sales • Revenue • Profit</a:t>
                      </a:r>
                    </a:p>
                    <a:p>
                      <a:r>
                        <a:rPr lang="en-US" sz="1400" b="1" dirty="0"/>
                        <a:t>Cost Analysis</a:t>
                      </a:r>
                    </a:p>
                    <a:p>
                      <a:r>
                        <a:rPr lang="en-US" sz="1400" dirty="0"/>
                        <a:t>• Operational Cost • Storage Cost • Transportation Cost</a:t>
                      </a:r>
                    </a:p>
                    <a:p>
                      <a:r>
                        <a:rPr lang="en-US" sz="1400" b="1" dirty="0"/>
                        <a:t>Inventory Management</a:t>
                      </a:r>
                    </a:p>
                    <a:p>
                      <a:r>
                        <a:rPr lang="en-US" sz="1400" dirty="0"/>
                        <a:t>• Current Stock • Demand Forecast • Inventory Gap • Stockout Risk</a:t>
                      </a:r>
                    </a:p>
                    <a:p>
                      <a:r>
                        <a:rPr lang="en-US" sz="1400" b="1" dirty="0"/>
                        <a:t>Delivery Performance</a:t>
                      </a:r>
                    </a:p>
                    <a:p>
                      <a:r>
                        <a:rPr lang="en-US" sz="1400" dirty="0"/>
                        <a:t>• Shipping Time • Order Processing Time • Lead Time • Delay Reason</a:t>
                      </a:r>
                    </a:p>
                    <a:p>
                      <a:r>
                        <a:rPr lang="en-US" sz="1400" b="1" dirty="0"/>
                        <a:t>Employee &amp; Customer Analysis</a:t>
                      </a:r>
                    </a:p>
                    <a:p>
                      <a:r>
                        <a:rPr lang="en-US" sz="1400" dirty="0"/>
                        <a:t>• Employee Count • Customer Rating • Product Category •Supplier ID</a:t>
                      </a:r>
                    </a:p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7357"/>
                  </a:ext>
                </a:extLst>
              </a:tr>
              <a:tr h="295417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227651"/>
                  </a:ext>
                </a:extLst>
              </a:tr>
              <a:tr h="295417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938279"/>
                  </a:ext>
                </a:extLst>
              </a:tr>
              <a:tr h="295417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65079"/>
                  </a:ext>
                </a:extLst>
              </a:tr>
              <a:tr h="295417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374762"/>
                  </a:ext>
                </a:extLst>
              </a:tr>
              <a:tr h="295417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595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475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6423-8ACA-18C7-E635-11B88F83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314"/>
            <a:ext cx="10515600" cy="88640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6233E-261E-731E-9269-A105EC912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294"/>
            <a:ext cx="10515600" cy="53631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600" b="1" dirty="0"/>
              <a:t>Tools Used :    </a:t>
            </a:r>
            <a:endParaRPr lang="en-IN" b="1" dirty="0"/>
          </a:p>
          <a:p>
            <a:pPr marL="0" indent="0">
              <a:buNone/>
            </a:pPr>
            <a:r>
              <a:rPr lang="en-IN" sz="2900" b="1" dirty="0"/>
              <a:t>Programming</a:t>
            </a:r>
            <a:r>
              <a:rPr lang="en-IN" dirty="0"/>
              <a:t> </a:t>
            </a:r>
          </a:p>
          <a:p>
            <a:r>
              <a:rPr lang="en-IN" dirty="0"/>
              <a:t>Python </a:t>
            </a:r>
          </a:p>
          <a:p>
            <a:pPr marL="0" indent="0">
              <a:buNone/>
            </a:pPr>
            <a:r>
              <a:rPr lang="en-IN" sz="2900" b="1" dirty="0"/>
              <a:t>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Matplotlib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Seaborn </a:t>
            </a:r>
          </a:p>
          <a:p>
            <a:pPr marL="0" indent="0">
              <a:buNone/>
            </a:pPr>
            <a:r>
              <a:rPr lang="en-IN" sz="3500" b="1" dirty="0"/>
              <a:t>IDE</a:t>
            </a:r>
          </a:p>
          <a:p>
            <a:pPr marL="0" indent="0">
              <a:buNone/>
            </a:pPr>
            <a:r>
              <a:rPr lang="en-IN" dirty="0"/>
              <a:t>Visual Studio Code</a:t>
            </a:r>
          </a:p>
          <a:p>
            <a:pPr marL="0" indent="0">
              <a:buNone/>
            </a:pPr>
            <a:r>
              <a:rPr lang="en-IN" sz="2900" b="1" dirty="0"/>
              <a:t>Database</a:t>
            </a:r>
          </a:p>
          <a:p>
            <a:r>
              <a:rPr lang="en-IN" sz="2900" dirty="0"/>
              <a:t>MySQL</a:t>
            </a:r>
          </a:p>
          <a:p>
            <a:pPr marL="0" indent="0">
              <a:buNone/>
            </a:pPr>
            <a:r>
              <a:rPr lang="en-IN" sz="3500" b="1" dirty="0"/>
              <a:t>graphical tool</a:t>
            </a:r>
          </a:p>
          <a:p>
            <a:pPr marL="0" indent="0">
              <a:buNone/>
            </a:pPr>
            <a:r>
              <a:rPr lang="en-IN" dirty="0"/>
              <a:t>MySQL Workbench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Business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SQL queries </a:t>
            </a:r>
          </a:p>
          <a:p>
            <a:pPr marL="0" indent="0">
              <a:buNone/>
            </a:pPr>
            <a:r>
              <a:rPr lang="en-IN" sz="2900" b="1" dirty="0"/>
              <a:t>Visualization tool</a:t>
            </a:r>
          </a:p>
          <a:p>
            <a:pPr marL="0" indent="0">
              <a:buNone/>
            </a:pPr>
            <a:r>
              <a:rPr lang="en-IN" b="1" dirty="0"/>
              <a:t>Power BI Desktop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Dashboard  |  KPIs  |  Charts |  Interactive filters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243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9F38-4CB4-3B59-47AF-8D6A4A7A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337"/>
            <a:ext cx="10515600" cy="86070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Challenges Faced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936D-5759-55E2-5224-40985E904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665"/>
            <a:ext cx="10515600" cy="558199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1. Data Cleaning &amp;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Cleaned and prepared the raw dataset before analysis. </a:t>
            </a:r>
          </a:p>
          <a:p>
            <a:pPr marL="0" indent="0">
              <a:buNone/>
            </a:pPr>
            <a:r>
              <a:rPr lang="en-US" b="1" dirty="0"/>
              <a:t>2. 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</a:t>
            </a:r>
            <a:r>
              <a:rPr lang="en-US" b="1" dirty="0"/>
              <a:t>10 new business metrics </a:t>
            </a:r>
            <a:r>
              <a:rPr lang="en-US" dirty="0"/>
              <a:t>such as Revenue, Profit, Inventory Gap, Employee Gap, and Order Delay to improve business analysis. </a:t>
            </a:r>
          </a:p>
          <a:p>
            <a:r>
              <a:rPr lang="en-US" dirty="0"/>
              <a:t>Warehouse Shifting through Excel.</a:t>
            </a:r>
          </a:p>
          <a:p>
            <a:pPr marL="0" indent="0">
              <a:buNone/>
            </a:pPr>
            <a:r>
              <a:rPr lang="en-US" b="1" dirty="0"/>
              <a:t>3. Employee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Calculated required employees and identified warehouses where employees needed to be shifted. </a:t>
            </a:r>
          </a:p>
          <a:p>
            <a:pPr marL="0" indent="0">
              <a:buNone/>
            </a:pPr>
            <a:r>
              <a:rPr lang="en-US" b="1" dirty="0"/>
              <a:t>4. Inventory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Compared demand with current stock to identify stock shortages and overstock situations. </a:t>
            </a:r>
          </a:p>
          <a:p>
            <a:pPr marL="0" indent="0">
              <a:buNone/>
            </a:pPr>
            <a:r>
              <a:rPr lang="en-US" b="1" dirty="0"/>
              <a:t>5. Cost &amp; Profit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Calculated Total Cost and Profit to evaluate warehouse performance. </a:t>
            </a:r>
          </a:p>
          <a:p>
            <a:pPr marL="0" indent="0">
              <a:buNone/>
            </a:pPr>
            <a:r>
              <a:rPr lang="en-US" b="1" dirty="0"/>
              <a:t>6. Delivery Performance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the Order Delay metric by combining Lead Time and Shipping Time to identify delayed warehouses. </a:t>
            </a:r>
          </a:p>
          <a:p>
            <a:pPr marL="0" indent="0">
              <a:buNone/>
            </a:pPr>
            <a:r>
              <a:rPr lang="en-US" b="1" dirty="0"/>
              <a:t>7. Dashboard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an interactive Power BI dashboard to visualize KPIs and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546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9F38-4CB4-3B59-47AF-8D6A4A7A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912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Feature Engineering Columns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936D-5759-55E2-5224-40985E904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3102"/>
            <a:ext cx="10515600" cy="5752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/>
              <a:t>1  Calculate the per employee Avg  Value Basis of  top warehouse  according to Monthly Sales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400" b="1" dirty="0"/>
              <a:t>2  Required Employees :-</a:t>
            </a:r>
            <a:r>
              <a:rPr lang="en-US" sz="1400" dirty="0"/>
              <a:t>Calculated the required number of employees based on  Per Emp Avg  and monthly sales.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  df["Required_Employees"] = ( df["Monthly_Sales"] / Avg_one_emp_sales).round().astype(int)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/>
              <a:t>3  Employee_Gap</a:t>
            </a:r>
            <a:r>
              <a:rPr lang="en-US" sz="1400" dirty="0"/>
              <a:t> – Compared required employees with current employees.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df["Employee_Gap"] = (df["Required_Employees"] - df["Employee_Count"])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/>
              <a:t>4  Need_Emp_Shifting</a:t>
            </a:r>
            <a:r>
              <a:rPr lang="en-US" sz="1400" dirty="0"/>
              <a:t>  :– Identified employees to be shifted to high-demand warehouses.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  df['Need_Emp_Shifting'] = np.where(df['Inventory_Gap'] &gt; 0, np.ceil(df['Inventory_Gap'] / Avg_one_emp_sales).astype(int), 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effectLst/>
                <a:latin typeface="Consolas" panose="020B0609020204030204" pitchFamily="49" charset="0"/>
              </a:rPr>
              <a:t>5 Shifting emp in required Emp Column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df["Required_Employees"]=df['Required_Employees']+df['Need_Emp_Shifting’]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400" b="1" dirty="0">
                <a:effectLst/>
                <a:latin typeface="Consolas" panose="020B0609020204030204" pitchFamily="49" charset="0"/>
              </a:rPr>
              <a:t>6 </a:t>
            </a:r>
            <a:r>
              <a:rPr lang="en-US" sz="1400" b="1" dirty="0"/>
              <a:t>Total_Cost – </a:t>
            </a:r>
            <a:r>
              <a:rPr lang="en-US" sz="1400" dirty="0"/>
              <a:t>Calculated the total operational, storage, and transportation cost.</a:t>
            </a:r>
            <a:endParaRPr lang="en-IN" sz="1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 df['Total_Cost']=df['Storage_Cost']+df['Transportation_Cost’]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400" b="1" dirty="0">
                <a:latin typeface="Consolas" panose="020B0609020204030204" pitchFamily="49" charset="0"/>
              </a:rPr>
              <a:t>7 </a:t>
            </a:r>
            <a:r>
              <a:rPr lang="en-US" sz="1400" b="1" dirty="0"/>
              <a:t>Cost_Per_Sale </a:t>
            </a:r>
            <a:r>
              <a:rPr lang="en-US" sz="1400" dirty="0"/>
              <a:t>– Calculated the operational cost for each sale.</a:t>
            </a: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df['Cost_Per_Sale'] = (df['Operational_Cost'] / df['Monthly_Sales’])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400" b="1" dirty="0">
                <a:latin typeface="Consolas" panose="020B0609020204030204" pitchFamily="49" charset="0"/>
              </a:rPr>
              <a:t>8  </a:t>
            </a:r>
            <a:r>
              <a:rPr lang="en-US" sz="1400" b="1" dirty="0"/>
              <a:t>Revenue – </a:t>
            </a:r>
            <a:r>
              <a:rPr lang="en-US" sz="1400" dirty="0"/>
              <a:t>Estimated the total revenue generated by each warehouse.</a:t>
            </a:r>
            <a:endParaRPr lang="en-IN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400" b="0" dirty="0">
                <a:effectLst/>
                <a:latin typeface="Consolas" panose="020B0609020204030204" pitchFamily="49" charset="0"/>
              </a:rPr>
              <a:t>  </a:t>
            </a:r>
            <a:r>
              <a:rPr lang="en-IN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df['Revenue']=df['Monthly_Sales']*avg_cost_per_sale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effectLst/>
                <a:latin typeface="Consolas" panose="020B0609020204030204" pitchFamily="49" charset="0"/>
              </a:rPr>
              <a:t>9</a:t>
            </a:r>
            <a:r>
              <a:rPr lang="en-US" sz="1400" b="1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/>
              <a:t>Profit – </a:t>
            </a:r>
            <a:r>
              <a:rPr lang="en-US" sz="1400" dirty="0"/>
              <a:t>Calculated estimated profit by subtracting total cost from revenue.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df['profit']=df['Revenue']-df['Total_Cost’]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df['profit’]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nsolas" panose="020B0609020204030204" pitchFamily="49" charset="0"/>
              </a:rPr>
              <a:t>10  </a:t>
            </a:r>
            <a:r>
              <a:rPr lang="en-US" sz="1400" b="1" dirty="0"/>
              <a:t>Inventory_Gap – </a:t>
            </a:r>
            <a:r>
              <a:rPr lang="en-US" sz="1400" dirty="0"/>
              <a:t>Identified stock shortages and overstock situations.</a:t>
            </a: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  df['Inventory_Gap'] = ( df['Demand_Forecast'] - df['Current_Stock’])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latin typeface="Consolas" panose="020B0609020204030204" pitchFamily="49" charset="0"/>
              </a:rPr>
              <a:t>11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b="1" dirty="0"/>
              <a:t>Optimized_Stock</a:t>
            </a:r>
            <a:r>
              <a:rPr lang="en-US" sz="1400" dirty="0"/>
              <a:t> – Suggested the optimal stock level based on demand.</a:t>
            </a:r>
            <a:endParaRPr lang="en-US" sz="1400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df['Optimized_Stock'] = np.where(df['Inventory_Gap'] &gt; 0, df['Demand_Forecast’],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400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IN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df['Current_Stock’])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b="1" dirty="0">
                <a:effectLst/>
                <a:latin typeface="Consolas" panose="020B0609020204030204" pitchFamily="49" charset="0"/>
              </a:rPr>
              <a:t>12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  </a:t>
            </a:r>
            <a:r>
              <a:rPr lang="en-US" sz="1400" b="1" dirty="0"/>
              <a:t>Order_Delay</a:t>
            </a:r>
            <a:r>
              <a:rPr lang="en-US" sz="1400" dirty="0"/>
              <a:t> – Calculated total delivery delay using lead time and shipping time.</a:t>
            </a:r>
            <a:endParaRPr lang="en-US" sz="1400" b="0" dirty="0"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 df['Order_delay']=df['Lead_Time_Days']+df['Shipping_Time_Days']</a:t>
            </a:r>
          </a:p>
          <a:p>
            <a:pPr marL="0" indent="0">
              <a:buNone/>
            </a:pPr>
            <a:endParaRPr lang="en-US" sz="1400" b="0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b="0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50" b="0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50" b="0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050" b="0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558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1806-A433-D308-3A3B-5CD5EBD5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41176"/>
          </a:xfrm>
        </p:spPr>
        <p:txBody>
          <a:bodyPr>
            <a:noAutofit/>
          </a:bodyPr>
          <a:lstStyle/>
          <a:p>
            <a:pPr algn="ctr"/>
            <a:r>
              <a:rPr lang="en-IN" sz="3200" b="1" dirty="0"/>
              <a:t>SQL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3507B-A793-841C-8341-D0B418E4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120" y="541176"/>
            <a:ext cx="11663680" cy="631682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000" b="1" dirty="0"/>
              <a:t>SQL Queries Performed</a:t>
            </a:r>
          </a:p>
          <a:p>
            <a:r>
              <a:rPr lang="en-US" b="1" dirty="0"/>
              <a:t>1. Top Delayed Warehouses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Identified the top 20 warehouses with the highest order delays.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improve delivery performance.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      SELECT    Warehouse_ID,  Location,  Order_delay FROM supply_chain_analysis ORDER BY Order_delay DESCLIMIT 20;</a:t>
            </a:r>
          </a:p>
          <a:p>
            <a:r>
              <a:rPr lang="en-US" b="1" dirty="0"/>
              <a:t>2. High Stockout Risk Locations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Identified warehouses with the highest stockout risk.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Helped detect locations that require inventory replenishment.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00000"/>
                </a:solidFill>
              </a:rPr>
              <a:t>   </a:t>
            </a:r>
            <a:r>
              <a:rPr lang="en-US" sz="2300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   SELECT  Warehouse_ID,    Location, Current_Stock, Demand_Forecast,  Stockout_Risk FROM supply_chain_analysis ORDER BY  Stockout_Risk DESCLIMIT 20;</a:t>
            </a:r>
          </a:p>
          <a:p>
            <a:r>
              <a:rPr lang="en-US" b="1" dirty="0"/>
              <a:t>3. Product Category Sales Performance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Calculated total sales for each product category.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Measured the average customer rating by category.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SELECT    Product_Category,   SUM(Monthly_Sales) AS Total_Sales,    AVG(Customer_Rating) AS Avg_Rating FROM supply_chain_analysis GROUP BY    Product_Category ORDER BY Total_Sales DESC;</a:t>
            </a:r>
          </a:p>
          <a:p>
            <a:r>
              <a:rPr lang="en-US" sz="2900" b="1" dirty="0"/>
              <a:t>4. Cost vs Profit Analysis</a:t>
            </a:r>
            <a:endParaRPr lang="en-US" sz="2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Compared warehouse total cost with generated profit.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Identified high-performing and low-performing warehouses.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     SELECT    Warehouse_ID,    Location,    Total_Cost,    Revenue,    profit FROM supply_chain_analysis ORDER BY profit DESC;</a:t>
            </a:r>
          </a:p>
          <a:p>
            <a:r>
              <a:rPr lang="en-US" sz="2900" b="1" dirty="0"/>
              <a:t>5. Demand vs Stock Comparison</a:t>
            </a:r>
            <a:endParaRPr lang="en-US" sz="29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Compared demand forecast with current stock.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Classified warehouses as: </a:t>
            </a:r>
          </a:p>
          <a:p>
            <a:pPr marL="0" indent="0">
              <a:buNone/>
            </a:pPr>
            <a:r>
              <a:rPr lang="en-US" sz="3200" dirty="0"/>
              <a:t>•     Stock Shortage  •Overstock • Balanced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SELECT; Warehouse_ID,    Location,    Current_Stock,    Demand_Forecast,    Inventory_Gap,    CASE        WHEN Inventory_Gap &gt; 0 THEN 'Stock Shortage'        WHEN Inventory_Gap &lt; 0 THEN 'Overstock'        ELSE 'Balanced'    END AS Status  FROM supply_chain_analysis	 ORDER BY ABS(Inventory_Gap) DESC</a:t>
            </a:r>
          </a:p>
          <a:p>
            <a:pPr marL="457200" lvl="1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11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IN" sz="10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20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B4BB-B206-F82F-F967-1F6D4E40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Power BI Dashboard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39E5C-003F-F549-F382-43F39C57B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 lnSpcReduction="10000"/>
          </a:bodyPr>
          <a:lstStyle/>
          <a:p>
            <a:r>
              <a:rPr lang="en-US" sz="1500" b="1" dirty="0"/>
              <a:t>Dashboard Overview</a:t>
            </a:r>
          </a:p>
          <a:p>
            <a:r>
              <a:rPr lang="en-US" sz="1500" dirty="0"/>
              <a:t>Developed an interactive Supply Chain Operations Dashboard in Power BI to monitor warehouse performance, inventory, sales, costs, profit, delivery efficiency, and employee utilization. The dashboard enables users to make data-driven business decisions using dynamic filters and visualizations.</a:t>
            </a:r>
          </a:p>
          <a:p>
            <a:r>
              <a:rPr lang="en-US" sz="1500" b="1" dirty="0"/>
              <a:t>KPI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Item Sales – Displays total sales quantity (2.78M).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Total Revenue – Shows the total revenue generated (40.3M).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Total Employees – Displays the total employee count (20.15K).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Total Cost – Shows the overall operational cost (9.12M).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Total Profit – Displays the total profit earned (31.16M).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Average Customer Rating – Measures customer satisfaction (3.09).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Average Delivery Days – Shows the average delivery time (6.57 Days).</a:t>
            </a:r>
          </a:p>
          <a:p>
            <a:endParaRPr lang="en-US" sz="1500" b="1" dirty="0"/>
          </a:p>
          <a:p>
            <a:r>
              <a:rPr lang="en-US" sz="1500" b="1" dirty="0"/>
              <a:t>Filters (Slicers)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Warehouse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Product 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/>
              <a:t>Supplier ID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9263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259D0-F206-CF32-79A9-EA1B2031B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"/>
            <a:ext cx="10515600" cy="68103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Power BI Dashboard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2843-ADFE-C7EF-3E12-E1A0B80FA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1" y="681038"/>
            <a:ext cx="11518231" cy="597643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1500" b="1" dirty="0"/>
              <a:t>Visualizations</a:t>
            </a:r>
          </a:p>
          <a:p>
            <a:pPr>
              <a:spcBef>
                <a:spcPts val="0"/>
              </a:spcBef>
            </a:pPr>
            <a:r>
              <a:rPr lang="en-US" sz="1500" b="1" dirty="0"/>
              <a:t>Profit by Product Category (Donut Chart)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Compares profit across Apparel, Electronics, and Groceries.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Identifies the most profitable product category. </a:t>
            </a:r>
          </a:p>
          <a:p>
            <a:pPr>
              <a:spcBef>
                <a:spcPts val="0"/>
              </a:spcBef>
            </a:pPr>
            <a:r>
              <a:rPr lang="en-US" sz="1500" b="1" dirty="0"/>
              <a:t>Inventory vs Capacity (Column Chart)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Compares optimized stock with warehouse capacity.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Helps identify underutilized and fully utilized warehouses. </a:t>
            </a:r>
          </a:p>
          <a:p>
            <a:pPr>
              <a:spcBef>
                <a:spcPts val="0"/>
              </a:spcBef>
            </a:pPr>
            <a:r>
              <a:rPr lang="en-US" sz="1500" b="1" dirty="0"/>
              <a:t>Sales vs Cost Comparison (Combo Chart)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Compares Revenue, Total Cost, and Profit across warehouses.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Evaluates warehouse financial performance. </a:t>
            </a:r>
          </a:p>
          <a:p>
            <a:pPr>
              <a:spcBef>
                <a:spcPts val="0"/>
              </a:spcBef>
            </a:pPr>
            <a:r>
              <a:rPr lang="en-US" sz="1500" b="1" dirty="0"/>
              <a:t>Warehouse Performance by Location (Map)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Displays warehouse locations geographically.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Helps monitor regional warehouse distribution. </a:t>
            </a:r>
          </a:p>
          <a:p>
            <a:pPr>
              <a:spcBef>
                <a:spcPts val="0"/>
              </a:spcBef>
            </a:pPr>
            <a:r>
              <a:rPr lang="en-US" sz="1500" b="1" dirty="0"/>
              <a:t>Employee Performance (Table)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Shows Employee Count, Required Employees, and Employee Gap.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Identifies warehouses with employee shortages or surplus. </a:t>
            </a:r>
          </a:p>
          <a:p>
            <a:pPr>
              <a:spcBef>
                <a:spcPts val="0"/>
              </a:spcBef>
            </a:pPr>
            <a:r>
              <a:rPr lang="en-US" sz="1500" b="1" dirty="0"/>
              <a:t>Delivery Time Analysis (Column Chart)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Compares Shipping Time, Lead Time, and Order Delay by location.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Helps identify delivery bottlenecks.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/>
              <a:t>Dashboard Insights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Monitored sales, revenue, cost, and profit using KPI cards.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Identified inventory imbalance across warehouses.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Evaluated warehouse performance by location.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Compared revenue, cost, and profit for decision-making.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Analyzed employee requirements and workforce gaps.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Measured delivery performance to improve operational efficiency.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Enabled interactive analysis through dynamic filters.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49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3CB8-3F08-9950-FD6B-2F0200C8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/>
              <a:t>Business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FA323D-3AE6-E1AF-C132-2D581CF471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4360" y="1739138"/>
            <a:ext cx="1005139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data quality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feature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Python.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shortages and overstock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Inventory Gap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warehouse performance, stockout risk, and delivery delays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SQL queries.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sales, revenue, cost, and 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evaluate warehouse profitability.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shortages and workforce gaps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resource allocation.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Lead Time, Shipping Time, and Order Delay.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Power BI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monitoring and business decision-making.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Enabled data-driven decisions to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management, operational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efficiency,and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profitability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73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67EEE-57C9-6865-974F-3712AA32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3306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F5CFB6-E55C-B2A8-3CD6-9853C4A16C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820" y="1123588"/>
            <a:ext cx="11448662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analyzed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Supply Chain Operations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Python, SQL, and 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cleaning, preprocessing, and feature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data quality and business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warehouse performance, inventory, sales, costs, and delivery operations.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Power BI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monitor KPIs and operational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Generated valuable insights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management, employee allocation, delivery efficiency, and profitability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dirty="0"/>
              <a:t>The project demonstrates how Python, SQL, and Power BI can be integrated to solve real-world supply chain business problems through data-driven decision-making.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4400" dirty="0"/>
              <a:t>Thank You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70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2005</Words>
  <Application>Microsoft Office PowerPoint</Application>
  <PresentationFormat>Widescreen</PresentationFormat>
  <Paragraphs>226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Supply Chain Analysis Using Python, SQL &amp; Power BI </vt:lpstr>
      <vt:lpstr>Business Problems &amp; Solutions </vt:lpstr>
      <vt:lpstr>Project Overview </vt:lpstr>
      <vt:lpstr>Dataset Overview</vt:lpstr>
      <vt:lpstr>Tools &amp; Technologies</vt:lpstr>
      <vt:lpstr>Challenges Faced &amp; Solutions</vt:lpstr>
      <vt:lpstr>Feature Engineering Columns Created</vt:lpstr>
      <vt:lpstr>SQL Analysis</vt:lpstr>
      <vt:lpstr>Power BI Dashboard Visualization</vt:lpstr>
      <vt:lpstr>Power BI Dashboard Visualization</vt:lpstr>
      <vt:lpstr>Business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GHANSHYAM KUMAR</dc:creator>
  <cp:lastModifiedBy>GHANSHYAM KUMAR</cp:lastModifiedBy>
  <cp:revision>4</cp:revision>
  <dcterms:created xsi:type="dcterms:W3CDTF">2026-07-22T06:08:44Z</dcterms:created>
  <dcterms:modified xsi:type="dcterms:W3CDTF">2026-07-23T07:26:40Z</dcterms:modified>
</cp:coreProperties>
</file>